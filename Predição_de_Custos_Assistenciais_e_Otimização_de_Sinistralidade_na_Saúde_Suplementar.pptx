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oS/fwjuAAiQPg69O5DnYQCKH5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459275-C9CD-4434-9112-0B97285EE8B2}">
  <a:tblStyle styleId="{04459275-C9CD-4434-9112-0B97285EE8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6e98c8c5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56e98c8c5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56e98c8c5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jp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35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Relationship Id="rId7" Type="http://schemas.openxmlformats.org/officeDocument/2006/relationships/image" Target="../media/image41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285875" y="1112304"/>
            <a:ext cx="6572250" cy="14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50"/>
              <a:buFont typeface="Quattrocento Sans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Predição de Custos Assistenciais e Otimização de Sinistralidade na </a:t>
            </a:r>
            <a:endParaRPr b="1" i="0" sz="2850" u="none" cap="none" strike="noStrike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50"/>
              <a:buFont typeface="Quattrocento Sans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Saúde Suplementar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285875" y="2766696"/>
            <a:ext cx="6572250" cy="528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Quattrocento Sans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a Inteligência Artificial transforma a gestão de riscos </a:t>
            </a:r>
            <a:endParaRPr b="0" i="0" sz="170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Quattrocento Sans"/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 admissão do paciente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704287" y="3723959"/>
            <a:ext cx="1446219" cy="30718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B82F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4305" y="381325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2054330" y="3802540"/>
            <a:ext cx="94615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Times New Roman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29112" y="3723959"/>
            <a:ext cx="1874955" cy="30718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B82F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79130" y="381325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3779155" y="3802540"/>
            <a:ext cx="137489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Times New Roman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Blindagem Antivazamento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582673" y="3723959"/>
            <a:ext cx="1842697" cy="30718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B82F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2692" y="381325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5831476" y="3740452"/>
            <a:ext cx="159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Times New Roman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Redução de Custos de  Sinistralidade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571500" y="428625"/>
            <a:ext cx="8001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Desafio: A Cegueira na Admissão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71500" y="846534"/>
            <a:ext cx="800100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saúde suplementar brasileira não consegue prever custos no momento da internação.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71500" y="1328738"/>
            <a:ext cx="3840435" cy="15323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501973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971550" y="1471613"/>
            <a:ext cx="2078775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Variabilidade Humana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14375" y="1775222"/>
            <a:ext cx="355468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Apesar de padrões clínicos claros, a </a:t>
            </a:r>
            <a:r>
              <a:rPr b="1" i="0" lang="en-US" sz="1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resposta individual ao tratamento varia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por idade, histórico e evolução da doença, tornando imprevisível o tempo de internação.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71500" y="3003947"/>
            <a:ext cx="3840435" cy="15323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375" y="3173611"/>
            <a:ext cx="171450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992981" y="3146822"/>
            <a:ext cx="2545073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Ponto Cego Operacional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14375" y="3450431"/>
            <a:ext cx="355468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necessário prever custos antes do fechamento da conta. Atualmente, sinistros catastróficos só são percebidos ao final, impedindo ações preventivas.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52000" y="1114400"/>
            <a:ext cx="3667200" cy="1916400"/>
          </a:xfrm>
          <a:prstGeom prst="rect">
            <a:avLst/>
          </a:prstGeom>
          <a:solidFill>
            <a:srgbClr val="3B82F6">
              <a:alpha val="5100"/>
            </a:srgbClr>
          </a:solidFill>
          <a:ln cap="flat" cmpd="sng" w="18275">
            <a:solidFill>
              <a:srgbClr val="3B82F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6825" y="1212649"/>
            <a:ext cx="3554674" cy="173945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4852000" y="3282575"/>
            <a:ext cx="3667200" cy="1532400"/>
          </a:xfrm>
          <a:prstGeom prst="rect">
            <a:avLst/>
          </a:prstGeom>
          <a:solidFill>
            <a:srgbClr val="3B82F6">
              <a:alpha val="5100"/>
            </a:srgbClr>
          </a:solidFill>
          <a:ln cap="flat" cmpd="sng" w="18275">
            <a:solidFill>
              <a:srgbClr val="3B82F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2"/>
          <p:cNvPicPr preferRelativeResize="0"/>
          <p:nvPr/>
        </p:nvPicPr>
        <p:blipFill rotWithShape="1">
          <a:blip r:embed="rId7">
            <a:alphaModFix/>
          </a:blip>
          <a:srcRect b="-4930" l="0" r="0" t="4930"/>
          <a:stretch/>
        </p:blipFill>
        <p:spPr>
          <a:xfrm>
            <a:off x="4920225" y="3370100"/>
            <a:ext cx="3530750" cy="14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571500" y="428625"/>
            <a:ext cx="8001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Objetivo Estratégico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71500" y="846534"/>
            <a:ext cx="800100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Identificar precocemente sinistros de alto risco para acionar a auditoria no D+0.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71500" y="1543050"/>
            <a:ext cx="3893344" cy="16930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71500" y="1543050"/>
            <a:ext cx="3893344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75736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1150144" y="1764506"/>
            <a:ext cx="1971061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Auditoria Concorrente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85813" y="2093119"/>
            <a:ext cx="3464719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Acionar auditores médicos no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D+0 da internação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exatamente para os casos críticos, permitindo intervenção no momento certo.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679156" y="1543050"/>
            <a:ext cx="3893400" cy="169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679156" y="1543050"/>
            <a:ext cx="3893344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3469" y="175736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5200650" y="1764506"/>
            <a:ext cx="253949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Gerenciamento de Pacientes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893469" y="2093119"/>
            <a:ext cx="3464719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Acompanhamento intensivo e direcionado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internações de alto risco, garantindo melhor desfecho clínico e financeiro.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71500" y="3436144"/>
            <a:ext cx="3893344" cy="1707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71500" y="3436144"/>
            <a:ext cx="3893344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813" y="365045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1178719" y="3657600"/>
            <a:ext cx="25288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Otimização da Sinistralidade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85813" y="3986213"/>
            <a:ext cx="3464719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Provisão financeira (PEONA) dinâmica e individualizada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por paciente, garantindo maior precisão na contabilidade da operadora.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679156" y="3436144"/>
            <a:ext cx="3893344" cy="1707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679156" y="3436144"/>
            <a:ext cx="3893344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3469" y="36647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5229225" y="3671888"/>
            <a:ext cx="231518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Blindagem Antivazamento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893469" y="4000500"/>
            <a:ext cx="3464719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100% dos sinistros graves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retirados do ponto cego operacional, evitando prejuízos surpresa no final do período.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571500" y="428625"/>
            <a:ext cx="8001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Pipeline de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71500" y="846534"/>
            <a:ext cx="800100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55.500 registros a um modelo preditivo: </a:t>
            </a:r>
            <a:endParaRPr b="1" i="0" sz="12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caminho da análise.</a:t>
            </a:r>
            <a:endParaRPr b="1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21975" y="1984681"/>
            <a:ext cx="36006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Quattrocento San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Jornada dos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21975" y="2352475"/>
            <a:ext cx="3794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</a:t>
            </a:r>
            <a:r>
              <a:rPr b="1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transformar dados brutos em inteligência de negócio</a:t>
            </a: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estruturamos um pipeline rigoroso em 3 etapas fundamentais: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456625" y="1114402"/>
            <a:ext cx="4160400" cy="376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706700" y="4042506"/>
            <a:ext cx="285900" cy="285900"/>
          </a:xfrm>
          <a:prstGeom prst="ellipse">
            <a:avLst/>
          </a:prstGeom>
          <a:solidFill>
            <a:srgbClr val="EBF5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9208" y="412108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5105956" y="4042506"/>
            <a:ext cx="3207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Modelagem e Avaliação: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Treinamento de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algoritmos de regressão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seleção do modelo campeão com base na utilidade para o negócio.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129494" y="2179519"/>
            <a:ext cx="3207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Engenharia de Features: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Criação de variáveis estratégicas e testes estatísticos (ANOVA) para análise das features preditivas</a:t>
            </a:r>
            <a:r>
              <a:rPr lang="en-US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como:</a:t>
            </a:r>
            <a:endParaRPr b="0" i="0" sz="10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52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Char char="●"/>
            </a:pPr>
            <a:r>
              <a:rPr b="0" i="1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length_of_stay e</a:t>
            </a:r>
            <a:r>
              <a:rPr b="1" i="1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expected_leng</a:t>
            </a:r>
            <a:r>
              <a:rPr b="1" i="1" lang="en-US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th_stay_stay</a:t>
            </a:r>
            <a:r>
              <a:rPr i="1" lang="en-US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</a:t>
            </a:r>
            <a:r>
              <a:rPr i="1" lang="en-US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proxy</a:t>
            </a:r>
            <a:r>
              <a:rPr i="1" lang="en-US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clínico de acordo com o perfil clínico do paciente);</a:t>
            </a:r>
            <a:endParaRPr sz="10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52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Char char="●"/>
            </a:pPr>
            <a:r>
              <a:rPr b="1" i="1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age_group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(RN 563 ANS)</a:t>
            </a:r>
            <a:r>
              <a:rPr lang="en-US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sz="10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52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Char char="●"/>
            </a:pPr>
            <a:r>
              <a:rPr b="1" i="1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hospital_cluster</a:t>
            </a: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(agrupamento de custos)</a:t>
            </a:r>
            <a:r>
              <a:rPr lang="en-US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sz="10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Quattrocento Sans"/>
              <a:buNone/>
            </a:pPr>
            <a:r>
              <a:t/>
            </a:r>
            <a:endParaRPr sz="10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1" name="Google Shape;91;p4"/>
          <p:cNvGrpSpPr/>
          <p:nvPr/>
        </p:nvGrpSpPr>
        <p:grpSpPr>
          <a:xfrm>
            <a:off x="4657038" y="2179518"/>
            <a:ext cx="285750" cy="285750"/>
            <a:chOff x="571500" y="3564731"/>
            <a:chExt cx="285750" cy="285750"/>
          </a:xfrm>
        </p:grpSpPr>
        <p:sp>
          <p:nvSpPr>
            <p:cNvPr id="92" name="Google Shape;92;p4"/>
            <p:cNvSpPr/>
            <p:nvPr/>
          </p:nvSpPr>
          <p:spPr>
            <a:xfrm>
              <a:off x="571500" y="3564731"/>
              <a:ext cx="285750" cy="285750"/>
            </a:xfrm>
            <a:prstGeom prst="ellipse">
              <a:avLst/>
            </a:prstGeom>
            <a:solidFill>
              <a:srgbClr val="EBF5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93" name="Google Shape;93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4008" y="3643313"/>
              <a:ext cx="160734" cy="1285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4"/>
          <p:cNvSpPr/>
          <p:nvPr/>
        </p:nvSpPr>
        <p:spPr>
          <a:xfrm>
            <a:off x="5082400" y="1339150"/>
            <a:ext cx="3254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Carga e Limpeza (EDA):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Padronização de colunas, tipagem, remoção de duplicatas e tratamento de inconsistências temporais e financeiras (glosas/erros).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4656963" y="1396894"/>
            <a:ext cx="285900" cy="285900"/>
            <a:chOff x="571500" y="2707481"/>
            <a:chExt cx="285900" cy="285900"/>
          </a:xfrm>
        </p:grpSpPr>
        <p:sp>
          <p:nvSpPr>
            <p:cNvPr id="96" name="Google Shape;96;p4"/>
            <p:cNvSpPr/>
            <p:nvPr/>
          </p:nvSpPr>
          <p:spPr>
            <a:xfrm>
              <a:off x="571500" y="2707481"/>
              <a:ext cx="285900" cy="285900"/>
            </a:xfrm>
            <a:prstGeom prst="ellipse">
              <a:avLst/>
            </a:prstGeom>
            <a:solidFill>
              <a:srgbClr val="EBF5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97" name="Google Shape;97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0081" y="2786063"/>
              <a:ext cx="128588" cy="1285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g3f56e98c8c5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56e98c8c5_0_14"/>
          <p:cNvSpPr/>
          <p:nvPr/>
        </p:nvSpPr>
        <p:spPr>
          <a:xfrm>
            <a:off x="571500" y="160725"/>
            <a:ext cx="8001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lang="en-US" sz="2100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Seleção das Features para Modelagem e Escolha do Melhor Modelo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56e98c8c5_0_14"/>
          <p:cNvSpPr/>
          <p:nvPr/>
        </p:nvSpPr>
        <p:spPr>
          <a:xfrm>
            <a:off x="571500" y="507225"/>
            <a:ext cx="82095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 </a:t>
            </a:r>
            <a:r>
              <a:rPr b="1" i="1" lang="en-US" sz="12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expected_lenght_of_stay, age, hospital_cluster</a:t>
            </a:r>
            <a:endParaRPr b="1" i="1" sz="12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 </a:t>
            </a:r>
            <a:r>
              <a:rPr b="1" i="1" lang="en-US" sz="12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 Regression apresentou melhor métrica | LightGBM Padrão foi escolhido por sua distribuição de densidade preditiva, provando-se o único modelo capaz de mitigar o risco de subprovisão e direcionar a auditoria.</a:t>
            </a:r>
            <a:endParaRPr b="1" i="1" sz="12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6" name="Google Shape;106;g3f56e98c8c5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403750"/>
            <a:ext cx="4979832" cy="17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f56e98c8c5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638" y="3281650"/>
            <a:ext cx="4969561" cy="1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f56e98c8c5_0_14"/>
          <p:cNvSpPr/>
          <p:nvPr/>
        </p:nvSpPr>
        <p:spPr>
          <a:xfrm>
            <a:off x="5919150" y="1403825"/>
            <a:ext cx="3062700" cy="158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56e98c8c5_0_14"/>
          <p:cNvSpPr/>
          <p:nvPr/>
        </p:nvSpPr>
        <p:spPr>
          <a:xfrm flipH="1">
            <a:off x="5919150" y="1403824"/>
            <a:ext cx="23700" cy="1582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56e98c8c5_0_14"/>
          <p:cNvSpPr/>
          <p:nvPr/>
        </p:nvSpPr>
        <p:spPr>
          <a:xfrm>
            <a:off x="5813825" y="1582350"/>
            <a:ext cx="3142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R2: 3.17%</a:t>
            </a:r>
            <a:endParaRPr b="1"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Teto de Previsão Máxima: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i="1" lang="en-US" sz="850">
                <a:solidFill>
                  <a:srgbClr val="475569"/>
                </a:solidFill>
                <a:latin typeface="Verdana"/>
                <a:ea typeface="Verdana"/>
                <a:cs typeface="Verdana"/>
                <a:sym typeface="Verdana"/>
              </a:rPr>
              <a:t>~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35k (picos isolados)</a:t>
            </a:r>
            <a:endParaRPr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Comportamento Gráfico: 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torres estáticas e rígidas, concentração de “chutes” nas médias centrais.</a:t>
            </a:r>
            <a:endParaRPr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Impacto de Negócio: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Gera </a:t>
            </a:r>
            <a:r>
              <a:rPr i="1" lang="en-US" sz="1000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miopia operacional 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Mascara beneficiá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ios de alto custo na média da carteira, incapaz de identificar casos catastróficos.</a:t>
            </a:r>
            <a:endParaRPr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preencoded.png" id="111" name="Google Shape;111;g3f56e98c8c5_0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05375" y="1325506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56e98c8c5_0_14"/>
          <p:cNvSpPr/>
          <p:nvPr/>
        </p:nvSpPr>
        <p:spPr>
          <a:xfrm>
            <a:off x="5919150" y="3403250"/>
            <a:ext cx="3062700" cy="15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56e98c8c5_0_14"/>
          <p:cNvSpPr/>
          <p:nvPr/>
        </p:nvSpPr>
        <p:spPr>
          <a:xfrm>
            <a:off x="5848275" y="3506525"/>
            <a:ext cx="30366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R2: </a:t>
            </a: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2.66</a:t>
            </a: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1"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Teto de Previsão Máxima: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i="1" lang="en-US" sz="850">
                <a:solidFill>
                  <a:srgbClr val="475569"/>
                </a:solidFill>
                <a:latin typeface="Verdana"/>
                <a:ea typeface="Verdana"/>
                <a:cs typeface="Verdana"/>
                <a:sym typeface="Verdana"/>
              </a:rPr>
              <a:t>~</a:t>
            </a:r>
            <a:r>
              <a:rPr b="1" i="1" lang="en-US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80k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(massa densa e contínua)</a:t>
            </a:r>
            <a:endParaRPr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Comportamento Gráfico: 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Nuvem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dispersa e consistente na zona de transição crítica (30-60k)</a:t>
            </a:r>
            <a:endParaRPr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Quattrocento Sans"/>
              <a:buChar char="●"/>
            </a:pPr>
            <a:r>
              <a:rPr b="1"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Impacto de Negócio:</a:t>
            </a:r>
            <a:r>
              <a:rPr i="1" lang="en-US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Mune a Auditoria Concorrente com alertas preventivos e densos no momento da admissão hospitalar.</a:t>
            </a:r>
            <a:endParaRPr i="1"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preencoded.png" id="114" name="Google Shape;114;g3f56e98c8c5_0_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1920" y="3316181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f56e98c8c5_0_14"/>
          <p:cNvSpPr/>
          <p:nvPr/>
        </p:nvSpPr>
        <p:spPr>
          <a:xfrm>
            <a:off x="5921545" y="3403225"/>
            <a:ext cx="23700" cy="1543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571500" y="157200"/>
            <a:ext cx="8001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em Negócio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71500" y="555959"/>
            <a:ext cx="8001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 LightGBM se comporta em cenários reais de internação.</a:t>
            </a:r>
            <a:endParaRPr b="1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71500" y="1307306"/>
            <a:ext cx="4400700" cy="21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71500" y="3843338"/>
            <a:ext cx="4400550" cy="12930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71500" y="3843338"/>
            <a:ext cx="2924528" cy="30003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71500" y="4129088"/>
            <a:ext cx="2924528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496028" y="3843338"/>
            <a:ext cx="1476022" cy="30003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496028" y="4129088"/>
            <a:ext cx="1476022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71500" y="4789884"/>
            <a:ext cx="4400550" cy="328613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212091" y="1307306"/>
            <a:ext cx="3360409" cy="7979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212091" y="1307306"/>
            <a:ext cx="28575" cy="79792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354966" y="1450181"/>
            <a:ext cx="3074659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11,17%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354966" y="1782366"/>
            <a:ext cx="3074659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Times New Roman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 carteira composta por sinistros catastróficos.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212091" y="2248105"/>
            <a:ext cx="3360409" cy="97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212091" y="2248105"/>
            <a:ext cx="28575" cy="977912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354966" y="2390980"/>
            <a:ext cx="3074659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7,75%</a:t>
            </a:r>
            <a:endParaRPr b="0" i="0" sz="1800" u="none" cap="none" strike="noStrike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354966" y="2723164"/>
            <a:ext cx="3074659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Times New Roman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Capturados diretamente na faixa de Alto Custo na admissão.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212091" y="3368892"/>
            <a:ext cx="3360409" cy="11579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212091" y="3368892"/>
            <a:ext cx="28575" cy="1157901"/>
          </a:xfrm>
          <a:prstGeom prst="rect">
            <a:avLst/>
          </a:prstGeom>
          <a:solidFill>
            <a:srgbClr val="274E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354966" y="3511767"/>
            <a:ext cx="3074659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</a:t>
            </a:r>
            <a:endParaRPr b="0" i="0" sz="1800" u="none" cap="none" strike="noStrike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354966" y="3843951"/>
            <a:ext cx="3074659" cy="53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Times New Roman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segurança de cauda — </a:t>
            </a:r>
            <a:r>
              <a:rPr b="1" i="0" lang="en-US" sz="9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falsos negativos</a:t>
            </a:r>
            <a:r>
              <a:rPr b="0" i="0" lang="en-US" sz="9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faixa de Baixo Custo. Nenhum caso catastrófico classificado incorretamente como baixo risco.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04022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800100" y="3593306"/>
            <a:ext cx="20613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Taxa Operacional de Acerto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71500" y="3843338"/>
            <a:ext cx="292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Faixa de Custo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71500" y="4136231"/>
            <a:ext cx="2924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Baixo (&lt; R$ 5k)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71500" y="4461272"/>
            <a:ext cx="29244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Médio (R$ 5k – R$ 33k)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496028" y="4461272"/>
            <a:ext cx="14760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96,84%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14525" y="4789934"/>
            <a:ext cx="29244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Alto / Catastrófico (&gt; R$ 33k)</a:t>
            </a:r>
            <a:endParaRPr b="1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539053" y="4789934"/>
            <a:ext cx="14760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7,75%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496028" y="4136231"/>
            <a:ext cx="1476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1,34%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496028" y="3843338"/>
            <a:ext cx="147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Acerto Direto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25" y="1064459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800125" y="1053744"/>
            <a:ext cx="20613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Quattrocento Sans"/>
              <a:buNone/>
            </a:pPr>
            <a:r>
              <a:rPr b="1" lang="en-US" sz="11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de Aderência de Negócio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6"/>
          <p:cNvGraphicFramePr/>
          <p:nvPr/>
        </p:nvGraphicFramePr>
        <p:xfrm>
          <a:off x="614525" y="134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{04459275-C9CD-4434-9112-0B97285EE8B2}</a:tableStyleId>
              </a:tblPr>
              <a:tblGrid>
                <a:gridCol w="864400"/>
                <a:gridCol w="864400"/>
                <a:gridCol w="864400"/>
                <a:gridCol w="864400"/>
                <a:gridCol w="864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Custo Real (Admissão)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Previsto:</a:t>
                      </a:r>
                      <a:endParaRPr b="1"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Baixo (&lt;5k)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Previsto:</a:t>
                      </a:r>
                      <a:endParaRPr b="1"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Médio (5-33k)</a:t>
                      </a:r>
                      <a:endParaRPr b="1"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Previsto:</a:t>
                      </a:r>
                      <a:endParaRPr b="1"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Alto (&gt;33k)</a:t>
                      </a:r>
                      <a:endParaRPr b="1"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Total Geral</a:t>
                      </a:r>
                      <a:endParaRPr b="1"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</a:rPr>
                        <a:t>Baixo (&lt;5k)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4.691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4.847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</a:rPr>
                        <a:t>Médio (5-33k)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66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9.419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239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9.724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</a:rPr>
                        <a:t>Alto (&gt;33k)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1.737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146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1.883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</a:rPr>
                        <a:t>Total Geral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131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15.847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476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16.454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571500" y="428625"/>
            <a:ext cx="8001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IA explica suas decisões: 3 vetores de custo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71500" y="846534"/>
            <a:ext cx="800100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Utilizamos o framework SHAP para </a:t>
            </a:r>
            <a:r>
              <a:rPr b="1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abrir a "caixa-preta"</a:t>
            </a: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do modelo, garantindo auditabilidade regulatória e alinhamento com a lógica de negócio.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71500" y="1596628"/>
            <a:ext cx="4400550" cy="3214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467161"/>
            <a:ext cx="4114800" cy="1473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5212091" y="1596628"/>
            <a:ext cx="3360409" cy="11822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212091" y="1596628"/>
            <a:ext cx="28575" cy="118229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4966" y="167163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5640716" y="1671638"/>
            <a:ext cx="136250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hospital_cluster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802147" y="1671638"/>
            <a:ext cx="627478" cy="189309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7802147" y="1671638"/>
            <a:ext cx="62747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85075" spcFirstLastPara="1" rIns="85075" wrap="square" tIns="17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62,26%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354966" y="1935956"/>
            <a:ext cx="307465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o </a:t>
            </a:r>
            <a:r>
              <a:rPr b="1" i="0" lang="en-US" sz="9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principal vetor de variabilidade</a:t>
            </a: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O acordo comercial com o prestador hospitalar dita o comportamento base do faturamento, com cauda de dispersão ultrapassando </a:t>
            </a:r>
            <a:endParaRPr b="0" i="0" sz="950" u="none" cap="none" strike="noStrike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+R$ 30.000/dia</a:t>
            </a:r>
            <a:r>
              <a:rPr lang="en-US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212091" y="2814638"/>
            <a:ext cx="3360409" cy="11822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212091" y="2814638"/>
            <a:ext cx="28575" cy="118229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4966" y="2889647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5576422" y="2889647"/>
            <a:ext cx="343067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802147" y="2889647"/>
            <a:ext cx="627478" cy="189309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802147" y="2889647"/>
            <a:ext cx="62747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85075" spcFirstLastPara="1" rIns="85075" wrap="square" tIns="17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26,94%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354966" y="3153966"/>
            <a:ext cx="307465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 a premissa atuarial: o envelhecimento atua como </a:t>
            </a:r>
            <a:r>
              <a:rPr b="1" i="0" lang="en-US" sz="9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acelerador de complexidade assistencial</a:t>
            </a: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severidade financeira, com picos de até +R$ 33.000/dia.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212091" y="4032647"/>
            <a:ext cx="3360409" cy="98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212091" y="4032647"/>
            <a:ext cx="28575" cy="98940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54966" y="410765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5576422" y="4107656"/>
            <a:ext cx="2096244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expected_length_of_stay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802147" y="4107656"/>
            <a:ext cx="627478" cy="18930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802147" y="4107656"/>
            <a:ext cx="62747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85075" spcFirstLastPara="1" rIns="85075" wrap="square" tIns="17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10,80%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354966" y="4371975"/>
            <a:ext cx="3074659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Funciona como um </a:t>
            </a:r>
            <a:r>
              <a:rPr b="1" i="0" lang="en-US" sz="9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ajuste fino clínico</a:t>
            </a: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definindo o "piso de severidade" na admissão de forma suave e precisa.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71500" y="1279588"/>
            <a:ext cx="3980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Quais variáveis mais pesam nas previsões de faturamento do modelo, e quanto?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88050" y="4279101"/>
            <a:ext cx="4114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 média, hospital_cluster desloca a previsão de faturamento em </a:t>
            </a:r>
            <a:r>
              <a:rPr i="1" lang="en-US" sz="850">
                <a:solidFill>
                  <a:srgbClr val="475569"/>
                </a:solidFill>
                <a:latin typeface="Verdana"/>
                <a:ea typeface="Verdana"/>
                <a:cs typeface="Verdana"/>
                <a:sym typeface="Verdana"/>
              </a:rPr>
              <a:t>~</a:t>
            </a: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R$ 2.013 por caso, age em </a:t>
            </a:r>
            <a:r>
              <a:rPr i="1" lang="en-US" sz="850">
                <a:solidFill>
                  <a:srgbClr val="475569"/>
                </a:solidFill>
                <a:latin typeface="Verdana"/>
                <a:ea typeface="Verdana"/>
                <a:cs typeface="Verdana"/>
                <a:sym typeface="Verdana"/>
              </a:rPr>
              <a:t>~</a:t>
            </a: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R$ 871 e expected_length_of_stay em </a:t>
            </a:r>
            <a:r>
              <a:rPr i="1" lang="en-US" sz="850">
                <a:solidFill>
                  <a:srgbClr val="475569"/>
                </a:solidFill>
                <a:latin typeface="Verdana"/>
                <a:ea typeface="Verdana"/>
                <a:cs typeface="Verdana"/>
                <a:sym typeface="Verdana"/>
              </a:rPr>
              <a:t>~</a:t>
            </a: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R$ 349.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331475" y="2643338"/>
            <a:ext cx="3980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i="1" lang="en-US" sz="6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Quase 2/3 do poder de explicação do modelo vem do prestador hospitalar.</a:t>
            </a:r>
            <a:endParaRPr i="1" sz="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571500" y="428625"/>
            <a:ext cx="8001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Anatomia de um Caso Crítico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71500" y="846534"/>
            <a:ext cx="800100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modelo previu R$ 85.771/dia para um caso que custaria 5x a média</a:t>
            </a:r>
            <a:endParaRPr b="0" i="1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0884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853678" y="1328738"/>
            <a:ext cx="179163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Quattrocento San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Caso Index 2044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71500" y="1650206"/>
            <a:ext cx="3200400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Paciente de 14 anos (pediatria complexa), internado em hospital de alto custo, com 15 dias de internação esperados.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2708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821531" y="2400300"/>
            <a:ext cx="179096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Gatilhos Identificados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71500" y="2639616"/>
            <a:ext cx="3200400" cy="592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71500" y="2639616"/>
            <a:ext cx="21431" cy="59293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07219" y="2661047"/>
            <a:ext cx="3128963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expected_length_of_stay = 15 dias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07219" y="2850356"/>
            <a:ext cx="3128963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+R$ 9.760,54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07219" y="3061097"/>
            <a:ext cx="312896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Ajuste fino clínico na admissão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71500" y="3232547"/>
            <a:ext cx="3200400" cy="592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71500" y="3232547"/>
            <a:ext cx="21431" cy="59293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07219" y="3253978"/>
            <a:ext cx="3128963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hospital_cluster = alto custo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07219" y="3443288"/>
            <a:ext cx="3128963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+R$ 25.547,09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07219" y="3654028"/>
            <a:ext cx="312896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Principal vetor de variabilidade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71500" y="3825478"/>
            <a:ext cx="3200400" cy="592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71500" y="3825478"/>
            <a:ext cx="21431" cy="59293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07219" y="3846909"/>
            <a:ext cx="3128963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 = 14 anos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07219" y="4036219"/>
            <a:ext cx="3128963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+R$ 33.526,17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07219" y="4246959"/>
            <a:ext cx="312896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Acelerador de complexidade e severidade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171800" y="1593044"/>
            <a:ext cx="4400700" cy="2857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43238" y="1664481"/>
            <a:ext cx="425767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4200650" y="4464301"/>
            <a:ext cx="4114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slide anterior, o hospital era o maior fator no geral. Mas para este paciente, foi a idade que pesou mais. Isso mostra que o modelo analisa cada caso individualmente e não aplica uma regra fixa a todos.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200650" y="1167001"/>
            <a:ext cx="4114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 internação típica custa cerca de R$ 17 mil por dia. Mas este não é um caso típico. O modelo identificou três fatores que elevam essa conta chegando a R$ 85 mil por dia.</a:t>
            </a:r>
            <a:endParaRPr i="1" sz="8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i="1" lang="en-US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o mais importante: conseguimos apontar exatamente de onde vem cada real.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571500" y="428625"/>
            <a:ext cx="8001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Impacto no Negócio: Auditoria Cirúrgica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71500" y="846534"/>
            <a:ext cx="800100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Menos alarmes falsos, mais foco onde importa.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71500" y="1257300"/>
            <a:ext cx="3840435" cy="38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71500" y="1257300"/>
            <a:ext cx="42863" cy="388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032788"/>
            <a:ext cx="30360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714375" y="2500703"/>
            <a:ext cx="3554685" cy="1645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Quattrocento Sans"/>
              <a:buNone/>
            </a:pPr>
            <a:r>
              <a:rPr b="0" i="1" lang="en-US" sz="12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"O paciente acabou de ser internado, tem 14 anos e está num hospital de alto custo. A equipe de auditoria médica precisa imediatamente acompanhar de perto a evolução </a:t>
            </a:r>
            <a:r>
              <a:rPr i="1" lang="en-US" sz="125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deste</a:t>
            </a:r>
            <a:r>
              <a:rPr b="0" i="1" lang="en-US" sz="12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caso, pois ele </a:t>
            </a:r>
            <a:r>
              <a:rPr i="1" lang="en-US" sz="125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vai</a:t>
            </a:r>
            <a:r>
              <a:rPr b="0" i="1" lang="en-US" sz="12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custar 5 vezes mais que a média da carteira por dia."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14375" y="4232281"/>
            <a:ext cx="355468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CENÁRIO REAL COM LIGHTGBM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732065" y="1257300"/>
            <a:ext cx="428625" cy="428625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9221" y="138588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5303565" y="1271588"/>
            <a:ext cx="326893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Otimização do Capital Humano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303565" y="1557338"/>
            <a:ext cx="326893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IA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seleciona cirurgicamente os casos mais severos,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evitando a enxurrada de alarmes falsos que inviabilizaria operacionalmente a equipe de auditores médicos.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732065" y="2557463"/>
            <a:ext cx="428625" cy="428625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0652" y="26860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5303565" y="2571750"/>
            <a:ext cx="326893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Foco no Risco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303565" y="2857500"/>
            <a:ext cx="3268935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auditoria deixa de ser reativa</a:t>
            </a: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(pós-fechamento da conta) e passa a ser preventiva e concorrente, atuando no D+0 da internação.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732065" y="3643313"/>
            <a:ext cx="428625" cy="428625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0652" y="3771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5303565" y="3657600"/>
            <a:ext cx="326893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Redução da Sinistralidade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303565" y="3943350"/>
            <a:ext cx="326893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intervenção precoce permite negociar melhorias no atendimento, reduzir tempo de internação e garantir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maior previsibilidade financeira para a operadora.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571500" y="428625"/>
            <a:ext cx="8001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Próximos Passos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71500" y="846534"/>
            <a:ext cx="800100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passos para integrar a IA ao fluxo operacional da operadora.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71500" y="1614488"/>
            <a:ext cx="184018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750"/>
              <a:buFont typeface="Quattrocento Sans"/>
              <a:buNone/>
            </a:pPr>
            <a:r>
              <a:rPr b="1" i="0" lang="en-US" sz="375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71500" y="1985963"/>
            <a:ext cx="1840185" cy="20395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571500" y="1985963"/>
            <a:ext cx="1840185" cy="28575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0858" y="2207419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714375" y="2639616"/>
            <a:ext cx="155443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Integração no Fluxo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714375" y="2925366"/>
            <a:ext cx="155443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Quattrocento San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Disponibilizar o modelo serializado via </a:t>
            </a: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interna para inferência automática</a:t>
            </a: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na geração da guia de internação.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4542" y="2189559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2625105" y="1614488"/>
            <a:ext cx="184018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750"/>
              <a:buFont typeface="Quattrocento Sans"/>
              <a:buNone/>
            </a:pPr>
            <a:r>
              <a:rPr b="1" i="0" lang="en-US" sz="37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3750" u="none" cap="none" strike="noStrik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625100" y="1985976"/>
            <a:ext cx="1840200" cy="203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2625105" y="1985963"/>
            <a:ext cx="1840185" cy="285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2683" y="2207419"/>
            <a:ext cx="225028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2767980" y="2639616"/>
            <a:ext cx="155443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Automatização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767980" y="2925366"/>
            <a:ext cx="15544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Quattrocento San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Configurar </a:t>
            </a: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gatilhos automáticos</a:t>
            </a: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para a equipe de Auditoria Médica Concorrente em casos de Alto/Catastrófico.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678710" y="1614488"/>
            <a:ext cx="184018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750"/>
              <a:buFont typeface="Quattrocento Sans"/>
              <a:buNone/>
            </a:pPr>
            <a:r>
              <a:rPr b="1" i="0" lang="en-US" sz="375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678700" y="1985976"/>
            <a:ext cx="1840200" cy="203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678710" y="1985963"/>
            <a:ext cx="1840185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70215" y="2207419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4821585" y="2639616"/>
            <a:ext cx="155443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Alimentação PEONA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821585" y="2925366"/>
            <a:ext cx="15544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Conectar o output do modelo ao dashboard</a:t>
            </a: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provisões técnicas da operadora para provisão dinâmica.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1751" y="2189559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732315" y="1614488"/>
            <a:ext cx="184018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750"/>
              <a:buFont typeface="Quattrocento Sans"/>
              <a:buNone/>
            </a:pPr>
            <a:r>
              <a:rPr b="1" i="0" lang="en-US" sz="37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3750" u="none" cap="none" strike="noStrik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732315" y="1985963"/>
            <a:ext cx="1840185" cy="20395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6732315" y="1985963"/>
            <a:ext cx="1840185" cy="285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3820" y="2207419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0"/>
          <p:cNvSpPr/>
          <p:nvPr/>
        </p:nvSpPr>
        <p:spPr>
          <a:xfrm>
            <a:off x="6875190" y="2639616"/>
            <a:ext cx="155443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875190" y="2925366"/>
            <a:ext cx="155443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Quattrocento San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Implementar </a:t>
            </a:r>
            <a:r>
              <a:rPr b="1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rotina trimestral de Data Drift para recalibração do LightGBM </a:t>
            </a:r>
            <a:r>
              <a:rPr b="0" i="0" lang="en-US" sz="8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diante de mudanças de mercado.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8142" y="2189559"/>
            <a:ext cx="150019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2026-07-20T14:03:03Z</dcterms:created>
  <dc:creator>PptxGenJS</dc:creator>
</cp:coreProperties>
</file>